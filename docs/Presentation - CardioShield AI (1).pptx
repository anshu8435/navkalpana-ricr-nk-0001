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8288000" cy="10287000"/>
  <p:notesSz cx="6858000" cy="9144000"/>
  <p:embeddedFontLst>
    <p:embeddedFont>
      <p:font typeface="Work Sans" pitchFamily="2" charset="0"/>
      <p:regular r:id="rId16"/>
    </p:embeddedFont>
    <p:embeddedFont>
      <p:font typeface="Work Sans Bold" panose="020B0604020202020204" charset="0"/>
      <p:regular r:id="rId17"/>
    </p:embeddedFont>
    <p:embeddedFont>
      <p:font typeface="Work Sans Semi-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2686050"/>
            <a:chOff x="0" y="0"/>
            <a:chExt cx="4987154" cy="790100"/>
          </a:xfrm>
        </p:grpSpPr>
        <p:sp>
          <p:nvSpPr>
            <p:cNvPr id="3" name="Freeform 3"/>
            <p:cNvSpPr/>
            <p:nvPr/>
          </p:nvSpPr>
          <p:spPr>
            <a:xfrm>
              <a:off x="0" y="0"/>
              <a:ext cx="4987156" cy="790100"/>
            </a:xfrm>
            <a:custGeom>
              <a:avLst/>
              <a:gdLst/>
              <a:ahLst/>
              <a:cxnLst/>
              <a:rect l="l" t="t" r="r" b="b"/>
              <a:pathLst>
                <a:path w="4987156" h="790100">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22676A"/>
            </a:solidFill>
          </p:spPr>
        </p:sp>
      </p:grpSp>
      <p:grpSp>
        <p:nvGrpSpPr>
          <p:cNvPr id="4" name="Group 4"/>
          <p:cNvGrpSpPr/>
          <p:nvPr/>
        </p:nvGrpSpPr>
        <p:grpSpPr>
          <a:xfrm>
            <a:off x="10734675" y="7834471"/>
            <a:ext cx="7248525" cy="1785779"/>
            <a:chOff x="0" y="0"/>
            <a:chExt cx="1813748" cy="470329"/>
          </a:xfrm>
        </p:grpSpPr>
        <p:sp>
          <p:nvSpPr>
            <p:cNvPr id="5" name="Freeform 5"/>
            <p:cNvSpPr/>
            <p:nvPr/>
          </p:nvSpPr>
          <p:spPr>
            <a:xfrm>
              <a:off x="0" y="0"/>
              <a:ext cx="1813748" cy="470329"/>
            </a:xfrm>
            <a:custGeom>
              <a:avLst/>
              <a:gdLst/>
              <a:ahLst/>
              <a:cxnLst/>
              <a:rect l="l" t="t" r="r" b="b"/>
              <a:pathLst>
                <a:path w="1813748" h="470329">
                  <a:moveTo>
                    <a:pt x="44968" y="0"/>
                  </a:moveTo>
                  <a:lnTo>
                    <a:pt x="1768780" y="0"/>
                  </a:lnTo>
                  <a:cubicBezTo>
                    <a:pt x="1780706" y="0"/>
                    <a:pt x="1792144" y="4738"/>
                    <a:pt x="1800577" y="13171"/>
                  </a:cubicBezTo>
                  <a:cubicBezTo>
                    <a:pt x="1809011" y="21604"/>
                    <a:pt x="1813748" y="33042"/>
                    <a:pt x="1813748" y="44968"/>
                  </a:cubicBezTo>
                  <a:lnTo>
                    <a:pt x="1813748" y="425360"/>
                  </a:lnTo>
                  <a:cubicBezTo>
                    <a:pt x="1813748" y="437287"/>
                    <a:pt x="1809011" y="448724"/>
                    <a:pt x="1800577" y="457158"/>
                  </a:cubicBezTo>
                  <a:cubicBezTo>
                    <a:pt x="1792144" y="465591"/>
                    <a:pt x="1780706" y="470329"/>
                    <a:pt x="1768780" y="470329"/>
                  </a:cubicBezTo>
                  <a:lnTo>
                    <a:pt x="44968" y="470329"/>
                  </a:lnTo>
                  <a:cubicBezTo>
                    <a:pt x="33042" y="470329"/>
                    <a:pt x="21604" y="465591"/>
                    <a:pt x="13171" y="457158"/>
                  </a:cubicBezTo>
                  <a:cubicBezTo>
                    <a:pt x="4738" y="448724"/>
                    <a:pt x="0" y="437287"/>
                    <a:pt x="0" y="425360"/>
                  </a:cubicBezTo>
                  <a:lnTo>
                    <a:pt x="0" y="44968"/>
                  </a:lnTo>
                  <a:cubicBezTo>
                    <a:pt x="0" y="33042"/>
                    <a:pt x="4738" y="21604"/>
                    <a:pt x="13171" y="13171"/>
                  </a:cubicBezTo>
                  <a:cubicBezTo>
                    <a:pt x="21604" y="4738"/>
                    <a:pt x="33042" y="0"/>
                    <a:pt x="44968" y="0"/>
                  </a:cubicBezTo>
                  <a:close/>
                </a:path>
              </a:pathLst>
            </a:custGeom>
            <a:solidFill>
              <a:srgbClr val="22676A"/>
            </a:solidFill>
          </p:spPr>
        </p:sp>
        <p:sp>
          <p:nvSpPr>
            <p:cNvPr id="6" name="TextBox 6"/>
            <p:cNvSpPr txBox="1"/>
            <p:nvPr/>
          </p:nvSpPr>
          <p:spPr>
            <a:xfrm>
              <a:off x="0" y="-57150"/>
              <a:ext cx="1813748" cy="527479"/>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0734675" y="3657600"/>
            <a:ext cx="6886575" cy="3872071"/>
            <a:chOff x="0" y="0"/>
            <a:chExt cx="1066911" cy="599885"/>
          </a:xfrm>
        </p:grpSpPr>
        <p:sp>
          <p:nvSpPr>
            <p:cNvPr id="8" name="Freeform 8"/>
            <p:cNvSpPr/>
            <p:nvPr/>
          </p:nvSpPr>
          <p:spPr>
            <a:xfrm>
              <a:off x="0" y="0"/>
              <a:ext cx="1066911" cy="599885"/>
            </a:xfrm>
            <a:custGeom>
              <a:avLst/>
              <a:gdLst/>
              <a:ahLst/>
              <a:cxnLst/>
              <a:rect l="l" t="t" r="r" b="b"/>
              <a:pathLst>
                <a:path w="1066911" h="599885">
                  <a:moveTo>
                    <a:pt x="44968" y="0"/>
                  </a:moveTo>
                  <a:lnTo>
                    <a:pt x="1021942" y="0"/>
                  </a:lnTo>
                  <a:cubicBezTo>
                    <a:pt x="1033869" y="0"/>
                    <a:pt x="1045307" y="4738"/>
                    <a:pt x="1053740" y="13171"/>
                  </a:cubicBezTo>
                  <a:cubicBezTo>
                    <a:pt x="1062173" y="21604"/>
                    <a:pt x="1066911" y="33042"/>
                    <a:pt x="1066911" y="44968"/>
                  </a:cubicBezTo>
                  <a:lnTo>
                    <a:pt x="1066911" y="554917"/>
                  </a:lnTo>
                  <a:cubicBezTo>
                    <a:pt x="1066911" y="566843"/>
                    <a:pt x="1062173" y="578281"/>
                    <a:pt x="1053740" y="586714"/>
                  </a:cubicBezTo>
                  <a:cubicBezTo>
                    <a:pt x="1045307" y="595147"/>
                    <a:pt x="1033869" y="599885"/>
                    <a:pt x="1021942" y="599885"/>
                  </a:cubicBezTo>
                  <a:lnTo>
                    <a:pt x="44968" y="599885"/>
                  </a:lnTo>
                  <a:cubicBezTo>
                    <a:pt x="33042" y="599885"/>
                    <a:pt x="21604" y="595147"/>
                    <a:pt x="13171" y="586714"/>
                  </a:cubicBezTo>
                  <a:cubicBezTo>
                    <a:pt x="4738" y="578281"/>
                    <a:pt x="0" y="566843"/>
                    <a:pt x="0" y="554917"/>
                  </a:cubicBezTo>
                  <a:lnTo>
                    <a:pt x="0" y="44968"/>
                  </a:lnTo>
                  <a:cubicBezTo>
                    <a:pt x="0" y="33042"/>
                    <a:pt x="4738" y="21604"/>
                    <a:pt x="13171" y="13171"/>
                  </a:cubicBezTo>
                  <a:cubicBezTo>
                    <a:pt x="21604" y="4738"/>
                    <a:pt x="33042" y="0"/>
                    <a:pt x="44968" y="0"/>
                  </a:cubicBezTo>
                  <a:close/>
                </a:path>
              </a:pathLst>
            </a:custGeom>
            <a:blipFill>
              <a:blip r:embed="rId2"/>
              <a:stretch>
                <a:fillRect l="-202" r="-202"/>
              </a:stretch>
            </a:blipFill>
          </p:spPr>
        </p:sp>
      </p:grpSp>
      <p:grpSp>
        <p:nvGrpSpPr>
          <p:cNvPr id="9" name="Group 9"/>
          <p:cNvGrpSpPr/>
          <p:nvPr/>
        </p:nvGrpSpPr>
        <p:grpSpPr>
          <a:xfrm>
            <a:off x="666750" y="3657600"/>
            <a:ext cx="9763125" cy="5962650"/>
            <a:chOff x="0" y="0"/>
            <a:chExt cx="4083676" cy="2494030"/>
          </a:xfrm>
        </p:grpSpPr>
        <p:sp>
          <p:nvSpPr>
            <p:cNvPr id="10" name="Freeform 10"/>
            <p:cNvSpPr/>
            <p:nvPr/>
          </p:nvSpPr>
          <p:spPr>
            <a:xfrm>
              <a:off x="54483" y="50038"/>
              <a:ext cx="3974583" cy="2394589"/>
            </a:xfrm>
            <a:custGeom>
              <a:avLst/>
              <a:gdLst/>
              <a:ahLst/>
              <a:cxnLst/>
              <a:rect l="l" t="t" r="r" b="b"/>
              <a:pathLst>
                <a:path w="3974583" h="2394589">
                  <a:moveTo>
                    <a:pt x="3886953" y="2394589"/>
                  </a:moveTo>
                  <a:lnTo>
                    <a:pt x="87757" y="2394589"/>
                  </a:lnTo>
                  <a:cubicBezTo>
                    <a:pt x="39370" y="2394589"/>
                    <a:pt x="0" y="2355346"/>
                    <a:pt x="0" y="2306832"/>
                  </a:cubicBezTo>
                  <a:lnTo>
                    <a:pt x="0" y="87757"/>
                  </a:lnTo>
                  <a:cubicBezTo>
                    <a:pt x="0" y="39370"/>
                    <a:pt x="39243" y="0"/>
                    <a:pt x="87757" y="0"/>
                  </a:cubicBezTo>
                  <a:lnTo>
                    <a:pt x="3886826" y="0"/>
                  </a:lnTo>
                  <a:cubicBezTo>
                    <a:pt x="3935213" y="0"/>
                    <a:pt x="3974583" y="39243"/>
                    <a:pt x="3974583" y="87757"/>
                  </a:cubicBezTo>
                  <a:lnTo>
                    <a:pt x="3974583" y="2306832"/>
                  </a:lnTo>
                  <a:cubicBezTo>
                    <a:pt x="3974583" y="2355219"/>
                    <a:pt x="3935340" y="2394589"/>
                    <a:pt x="3886826" y="2394589"/>
                  </a:cubicBezTo>
                  <a:close/>
                </a:path>
              </a:pathLst>
            </a:custGeom>
            <a:blipFill>
              <a:blip r:embed="rId3"/>
              <a:stretch>
                <a:fillRect t="-209" b="-209"/>
              </a:stretch>
            </a:blipFill>
          </p:spPr>
        </p:sp>
        <p:sp>
          <p:nvSpPr>
            <p:cNvPr id="11" name="Freeform 11"/>
            <p:cNvSpPr/>
            <p:nvPr/>
          </p:nvSpPr>
          <p:spPr>
            <a:xfrm>
              <a:off x="0" y="0"/>
              <a:ext cx="4083549" cy="2493903"/>
            </a:xfrm>
            <a:custGeom>
              <a:avLst/>
              <a:gdLst/>
              <a:ahLst/>
              <a:cxnLst/>
              <a:rect l="l" t="t" r="r" b="b"/>
              <a:pathLst>
                <a:path w="4083549" h="2493903">
                  <a:moveTo>
                    <a:pt x="0" y="91567"/>
                  </a:moveTo>
                  <a:lnTo>
                    <a:pt x="0" y="2402337"/>
                  </a:lnTo>
                  <a:cubicBezTo>
                    <a:pt x="0" y="2452882"/>
                    <a:pt x="41021" y="2493903"/>
                    <a:pt x="91567" y="2493903"/>
                  </a:cubicBezTo>
                  <a:lnTo>
                    <a:pt x="3991982" y="2493903"/>
                  </a:lnTo>
                  <a:cubicBezTo>
                    <a:pt x="4042528" y="2493903"/>
                    <a:pt x="4083549" y="2452882"/>
                    <a:pt x="4083549" y="2402337"/>
                  </a:cubicBezTo>
                  <a:lnTo>
                    <a:pt x="4083549" y="91567"/>
                  </a:lnTo>
                  <a:cubicBezTo>
                    <a:pt x="4083549" y="41021"/>
                    <a:pt x="4042528" y="0"/>
                    <a:pt x="3991982" y="0"/>
                  </a:cubicBezTo>
                  <a:lnTo>
                    <a:pt x="91567" y="0"/>
                  </a:lnTo>
                  <a:cubicBezTo>
                    <a:pt x="41021" y="0"/>
                    <a:pt x="0" y="41021"/>
                    <a:pt x="0" y="91567"/>
                  </a:cubicBezTo>
                  <a:close/>
                  <a:moveTo>
                    <a:pt x="3241793" y="331724"/>
                  </a:moveTo>
                  <a:lnTo>
                    <a:pt x="3900923" y="331724"/>
                  </a:lnTo>
                  <a:cubicBezTo>
                    <a:pt x="3951469" y="331724"/>
                    <a:pt x="3992490" y="372745"/>
                    <a:pt x="3992490" y="423291"/>
                  </a:cubicBezTo>
                  <a:lnTo>
                    <a:pt x="3992490" y="2311277"/>
                  </a:lnTo>
                  <a:cubicBezTo>
                    <a:pt x="3992490" y="2361823"/>
                    <a:pt x="3951469" y="2402844"/>
                    <a:pt x="3900923" y="2402844"/>
                  </a:cubicBezTo>
                  <a:lnTo>
                    <a:pt x="182753" y="2402844"/>
                  </a:lnTo>
                  <a:cubicBezTo>
                    <a:pt x="132207" y="2402844"/>
                    <a:pt x="91186" y="2361823"/>
                    <a:pt x="91186" y="2311277"/>
                  </a:cubicBezTo>
                  <a:lnTo>
                    <a:pt x="91186" y="182753"/>
                  </a:lnTo>
                  <a:cubicBezTo>
                    <a:pt x="91186" y="132207"/>
                    <a:pt x="132207" y="91186"/>
                    <a:pt x="182753" y="91186"/>
                  </a:cubicBezTo>
                  <a:lnTo>
                    <a:pt x="2944740" y="91186"/>
                  </a:lnTo>
                  <a:cubicBezTo>
                    <a:pt x="2970775" y="91186"/>
                    <a:pt x="2995667" y="102235"/>
                    <a:pt x="3013066" y="121666"/>
                  </a:cubicBezTo>
                  <a:lnTo>
                    <a:pt x="3173721" y="301244"/>
                  </a:lnTo>
                  <a:cubicBezTo>
                    <a:pt x="3191120" y="320675"/>
                    <a:pt x="3215885" y="331724"/>
                    <a:pt x="3242047" y="331724"/>
                  </a:cubicBezTo>
                  <a:lnTo>
                    <a:pt x="3241793" y="331724"/>
                  </a:lnTo>
                  <a:close/>
                </a:path>
              </a:pathLst>
            </a:custGeom>
            <a:solidFill>
              <a:srgbClr val="3DA4AB"/>
            </a:solidFill>
          </p:spPr>
        </p:sp>
      </p:grpSp>
      <p:sp>
        <p:nvSpPr>
          <p:cNvPr id="12" name="Freeform 12"/>
          <p:cNvSpPr/>
          <p:nvPr/>
        </p:nvSpPr>
        <p:spPr>
          <a:xfrm>
            <a:off x="15220953" y="1376364"/>
            <a:ext cx="1266822" cy="1266822"/>
          </a:xfrm>
          <a:custGeom>
            <a:avLst/>
            <a:gdLst/>
            <a:ahLst/>
            <a:cxnLst/>
            <a:rect l="l" t="t" r="r" b="b"/>
            <a:pathLst>
              <a:path w="1266822" h="1266822">
                <a:moveTo>
                  <a:pt x="0" y="0"/>
                </a:moveTo>
                <a:lnTo>
                  <a:pt x="1266822" y="0"/>
                </a:lnTo>
                <a:lnTo>
                  <a:pt x="1266822" y="1266822"/>
                </a:lnTo>
                <a:lnTo>
                  <a:pt x="0" y="126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320434" y="1570221"/>
            <a:ext cx="13424266" cy="1035051"/>
          </a:xfrm>
          <a:prstGeom prst="rect">
            <a:avLst/>
          </a:prstGeom>
        </p:spPr>
        <p:txBody>
          <a:bodyPr lIns="0" tIns="0" rIns="0" bIns="0" rtlCol="0" anchor="t">
            <a:spAutoFit/>
          </a:bodyPr>
          <a:lstStyle/>
          <a:p>
            <a:pPr marL="0" lvl="0" indent="0" algn="l">
              <a:lnSpc>
                <a:spcPts val="7600"/>
              </a:lnSpc>
            </a:pPr>
            <a:r>
              <a:rPr lang="en-US" sz="8000" b="1" spc="-440">
                <a:solidFill>
                  <a:srgbClr val="D1E8FF"/>
                </a:solidFill>
                <a:latin typeface="Work Sans Semi-Bold"/>
                <a:ea typeface="Work Sans Semi-Bold"/>
                <a:cs typeface="Work Sans Semi-Bold"/>
                <a:sym typeface="Work Sans Semi-Bold"/>
              </a:rPr>
              <a:t>CardioShield AI</a:t>
            </a:r>
          </a:p>
        </p:txBody>
      </p:sp>
      <p:grpSp>
        <p:nvGrpSpPr>
          <p:cNvPr id="14" name="Group 14"/>
          <p:cNvGrpSpPr/>
          <p:nvPr/>
        </p:nvGrpSpPr>
        <p:grpSpPr>
          <a:xfrm>
            <a:off x="12649200" y="8132097"/>
            <a:ext cx="4572000" cy="1013460"/>
            <a:chOff x="0" y="-47625"/>
            <a:chExt cx="7470947" cy="1351281"/>
          </a:xfrm>
        </p:grpSpPr>
        <p:sp>
          <p:nvSpPr>
            <p:cNvPr id="15" name="TextBox 15"/>
            <p:cNvSpPr txBox="1"/>
            <p:nvPr/>
          </p:nvSpPr>
          <p:spPr>
            <a:xfrm>
              <a:off x="0" y="-47625"/>
              <a:ext cx="7470947" cy="657225"/>
            </a:xfrm>
            <a:prstGeom prst="rect">
              <a:avLst/>
            </a:prstGeom>
          </p:spPr>
          <p:txBody>
            <a:bodyPr lIns="0" tIns="0" rIns="0" bIns="0" rtlCol="0" anchor="t">
              <a:spAutoFit/>
            </a:bodyPr>
            <a:lstStyle/>
            <a:p>
              <a:pPr marL="0" lvl="0" indent="0" algn="l">
                <a:lnSpc>
                  <a:spcPts val="3900"/>
                </a:lnSpc>
              </a:pPr>
              <a:r>
                <a:rPr lang="en-US" sz="3000" b="1" spc="-165" dirty="0">
                  <a:solidFill>
                    <a:srgbClr val="D1E8FF"/>
                  </a:solidFill>
                  <a:latin typeface="Work Sans Semi-Bold"/>
                  <a:ea typeface="Work Sans Semi-Bold"/>
                  <a:cs typeface="Work Sans Semi-Bold"/>
                  <a:sym typeface="Work Sans Semi-Bold"/>
                </a:rPr>
                <a:t>Presented by</a:t>
              </a:r>
            </a:p>
          </p:txBody>
        </p:sp>
        <p:sp>
          <p:nvSpPr>
            <p:cNvPr id="16" name="TextBox 16"/>
            <p:cNvSpPr txBox="1"/>
            <p:nvPr/>
          </p:nvSpPr>
          <p:spPr>
            <a:xfrm>
              <a:off x="0" y="675962"/>
              <a:ext cx="7470947" cy="627694"/>
            </a:xfrm>
            <a:prstGeom prst="rect">
              <a:avLst/>
            </a:prstGeom>
          </p:spPr>
          <p:txBody>
            <a:bodyPr lIns="0" tIns="0" rIns="0" bIns="0" rtlCol="0" anchor="t">
              <a:spAutoFit/>
            </a:bodyPr>
            <a:lstStyle/>
            <a:p>
              <a:pPr marL="0" lvl="0" indent="0" algn="l">
                <a:lnSpc>
                  <a:spcPts val="3900"/>
                </a:lnSpc>
              </a:pPr>
              <a:r>
                <a:rPr lang="en-US" sz="3000" spc="-165" dirty="0" err="1">
                  <a:solidFill>
                    <a:srgbClr val="D1E8FF"/>
                  </a:solidFill>
                  <a:latin typeface="Work Sans"/>
                  <a:ea typeface="Work Sans"/>
                  <a:cs typeface="Work Sans"/>
                  <a:sym typeface="Work Sans"/>
                </a:rPr>
                <a:t>NavKalpana</a:t>
              </a:r>
              <a:r>
                <a:rPr lang="en-US" sz="3000" spc="-165" dirty="0">
                  <a:solidFill>
                    <a:srgbClr val="D1E8FF"/>
                  </a:solidFill>
                  <a:latin typeface="Work Sans"/>
                  <a:ea typeface="Work Sans"/>
                  <a:cs typeface="Work Sans"/>
                  <a:sym typeface="Work Sans"/>
                </a:rPr>
                <a:t> | February2026</a:t>
              </a:r>
            </a:p>
          </p:txBody>
        </p:sp>
      </p:grpSp>
      <p:pic>
        <p:nvPicPr>
          <p:cNvPr id="18" name="Picture 17">
            <a:extLst>
              <a:ext uri="{FF2B5EF4-FFF2-40B4-BE49-F238E27FC236}">
                <a16:creationId xmlns:a16="http://schemas.microsoft.com/office/drawing/2014/main" id="{9F456845-E12C-66AF-D7C1-17967D3A45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96600" y="7962900"/>
            <a:ext cx="1447496" cy="15392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22676A"/>
            </a:solidFill>
          </p:spPr>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3DA4AB"/>
            </a:solidFill>
          </p:spPr>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sp>
      </p:grpSp>
      <p:grpSp>
        <p:nvGrpSpPr>
          <p:cNvPr id="9" name="Group 9"/>
          <p:cNvGrpSpPr/>
          <p:nvPr/>
        </p:nvGrpSpPr>
        <p:grpSpPr>
          <a:xfrm>
            <a:off x="2105025" y="1562100"/>
            <a:ext cx="5448300" cy="4383513"/>
            <a:chOff x="0" y="0"/>
            <a:chExt cx="7264400" cy="5844684"/>
          </a:xfrm>
        </p:grpSpPr>
        <p:sp>
          <p:nvSpPr>
            <p:cNvPr id="10" name="TextBox 10"/>
            <p:cNvSpPr txBox="1"/>
            <p:nvPr/>
          </p:nvSpPr>
          <p:spPr>
            <a:xfrm>
              <a:off x="50129" y="3565669"/>
              <a:ext cx="7214271" cy="2279015"/>
            </a:xfrm>
            <a:prstGeom prst="rect">
              <a:avLst/>
            </a:prstGeom>
          </p:spPr>
          <p:txBody>
            <a:bodyPr lIns="0" tIns="0" rIns="0" bIns="0" rtlCol="0" anchor="t">
              <a:spAutoFit/>
            </a:bodyPr>
            <a:lstStyle/>
            <a:p>
              <a:pPr marL="0" lvl="0" indent="0" algn="l">
                <a:lnSpc>
                  <a:spcPts val="2730"/>
                </a:lnSpc>
              </a:pPr>
              <a:r>
                <a:rPr lang="en-US" sz="2100" spc="-115">
                  <a:solidFill>
                    <a:srgbClr val="D1E8FF"/>
                  </a:solidFill>
                  <a:latin typeface="Work Sans"/>
                  <a:ea typeface="Work Sans"/>
                  <a:cs typeface="Work Sans"/>
                  <a:sym typeface="Work Sans"/>
                </a:rPr>
                <a:t>Cardiovascular diseases claim approximately </a:t>
              </a:r>
              <a:r>
                <a:rPr lang="en-US" sz="2100" b="1" spc="-115">
                  <a:solidFill>
                    <a:srgbClr val="D1E8FF"/>
                  </a:solidFill>
                  <a:latin typeface="Work Sans Bold"/>
                  <a:ea typeface="Work Sans Bold"/>
                  <a:cs typeface="Work Sans Bold"/>
                  <a:sym typeface="Work Sans Bold"/>
                </a:rPr>
                <a:t>17.9 million lives</a:t>
              </a:r>
              <a:r>
                <a:rPr lang="en-US" sz="2100" spc="-115">
                  <a:solidFill>
                    <a:srgbClr val="D1E8FF"/>
                  </a:solidFill>
                  <a:latin typeface="Work Sans"/>
                  <a:ea typeface="Work Sans"/>
                  <a:cs typeface="Work Sans"/>
                  <a:sym typeface="Work Sans"/>
                </a:rPr>
                <a:t> each year globally, highlighting the urgent need for early detection, effective screening, and accessible healthcare solutions for all populations.</a:t>
              </a:r>
            </a:p>
          </p:txBody>
        </p:sp>
        <p:sp>
          <p:nvSpPr>
            <p:cNvPr id="11" name="TextBox 11"/>
            <p:cNvSpPr txBox="1"/>
            <p:nvPr/>
          </p:nvSpPr>
          <p:spPr>
            <a:xfrm>
              <a:off x="0" y="133350"/>
              <a:ext cx="72644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The Problem</a:t>
              </a:r>
            </a:p>
          </p:txBody>
        </p:sp>
        <p:sp>
          <p:nvSpPr>
            <p:cNvPr id="12" name="TextBox 12"/>
            <p:cNvSpPr txBox="1"/>
            <p:nvPr/>
          </p:nvSpPr>
          <p:spPr>
            <a:xfrm>
              <a:off x="0" y="1737927"/>
              <a:ext cx="7264400" cy="1238250"/>
            </a:xfrm>
            <a:prstGeom prst="rect">
              <a:avLst/>
            </a:prstGeom>
          </p:spPr>
          <p:txBody>
            <a:bodyPr lIns="0" tIns="0" rIns="0" bIns="0" rtlCol="0" anchor="t">
              <a:spAutoFit/>
            </a:bodyPr>
            <a:lstStyle/>
            <a:p>
              <a:pPr marL="0" lvl="0" indent="0" algn="l">
                <a:lnSpc>
                  <a:spcPts val="3600"/>
                </a:lnSpc>
                <a:spcBef>
                  <a:spcPct val="0"/>
                </a:spcBef>
              </a:pPr>
              <a:r>
                <a:rPr lang="en-US" sz="3000" u="none" strike="noStrike" spc="-165">
                  <a:solidFill>
                    <a:srgbClr val="C1DBEE"/>
                  </a:solidFill>
                  <a:latin typeface="Work Sans"/>
                  <a:ea typeface="Work Sans"/>
                  <a:cs typeface="Work Sans"/>
                  <a:sym typeface="Work Sans"/>
                </a:rPr>
                <a:t>Critical Cardiovascular Disease Statistics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22676A"/>
            </a:solidFill>
          </p:spPr>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3DA4AB"/>
            </a:solidFill>
          </p:spPr>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sp>
      </p:grpSp>
      <p:grpSp>
        <p:nvGrpSpPr>
          <p:cNvPr id="9" name="Group 9"/>
          <p:cNvGrpSpPr/>
          <p:nvPr/>
        </p:nvGrpSpPr>
        <p:grpSpPr>
          <a:xfrm>
            <a:off x="2105025" y="1562100"/>
            <a:ext cx="5448300" cy="5697963"/>
            <a:chOff x="0" y="0"/>
            <a:chExt cx="7264400" cy="7597284"/>
          </a:xfrm>
        </p:grpSpPr>
        <p:sp>
          <p:nvSpPr>
            <p:cNvPr id="10" name="TextBox 10"/>
            <p:cNvSpPr txBox="1"/>
            <p:nvPr/>
          </p:nvSpPr>
          <p:spPr>
            <a:xfrm>
              <a:off x="50129" y="5318269"/>
              <a:ext cx="7214271" cy="2279015"/>
            </a:xfrm>
            <a:prstGeom prst="rect">
              <a:avLst/>
            </a:prstGeom>
          </p:spPr>
          <p:txBody>
            <a:bodyPr lIns="0" tIns="0" rIns="0" bIns="0" rtlCol="0" anchor="t">
              <a:spAutoFit/>
            </a:bodyPr>
            <a:lstStyle/>
            <a:p>
              <a:pPr marL="0" lvl="0" indent="0" algn="l">
                <a:lnSpc>
                  <a:spcPts val="2730"/>
                </a:lnSpc>
              </a:pPr>
              <a:r>
                <a:rPr lang="en-US" sz="2100" spc="-115">
                  <a:solidFill>
                    <a:srgbClr val="D1E8FF"/>
                  </a:solidFill>
                  <a:latin typeface="Work Sans"/>
                  <a:ea typeface="Work Sans"/>
                  <a:cs typeface="Work Sans"/>
                  <a:sym typeface="Work Sans"/>
                </a:rPr>
                <a:t>Current cardiovascular risk assessment methods are </a:t>
              </a:r>
              <a:r>
                <a:rPr lang="en-US" sz="2100" b="1" spc="-115">
                  <a:solidFill>
                    <a:srgbClr val="D1E8FF"/>
                  </a:solidFill>
                  <a:latin typeface="Work Sans Bold"/>
                  <a:ea typeface="Work Sans Bold"/>
                  <a:cs typeface="Work Sans Bold"/>
                  <a:sym typeface="Work Sans Bold"/>
                </a:rPr>
                <a:t>expensive</a:t>
              </a:r>
              <a:r>
                <a:rPr lang="en-US" sz="2100" spc="-115">
                  <a:solidFill>
                    <a:srgbClr val="D1E8FF"/>
                  </a:solidFill>
                  <a:latin typeface="Work Sans"/>
                  <a:ea typeface="Work Sans"/>
                  <a:cs typeface="Work Sans"/>
                  <a:sym typeface="Work Sans"/>
                </a:rPr>
                <a:t> and often lack </a:t>
              </a:r>
              <a:r>
                <a:rPr lang="en-US" sz="2100" b="1" spc="-115">
                  <a:solidFill>
                    <a:srgbClr val="D1E8FF"/>
                  </a:solidFill>
                  <a:latin typeface="Work Sans Bold"/>
                  <a:ea typeface="Work Sans Bold"/>
                  <a:cs typeface="Work Sans Bold"/>
                  <a:sym typeface="Work Sans Bold"/>
                </a:rPr>
                <a:t>explainability</a:t>
              </a:r>
              <a:r>
                <a:rPr lang="en-US" sz="2100" spc="-115">
                  <a:solidFill>
                    <a:srgbClr val="D1E8FF"/>
                  </a:solidFill>
                  <a:latin typeface="Work Sans"/>
                  <a:ea typeface="Work Sans"/>
                  <a:cs typeface="Work Sans"/>
                  <a:sym typeface="Work Sans"/>
                </a:rPr>
                <a:t>. Traditional risk scores do not suit South Asian populations, leading to high false negatives in early detection.</a:t>
              </a:r>
            </a:p>
          </p:txBody>
        </p:sp>
        <p:sp>
          <p:nvSpPr>
            <p:cNvPr id="11" name="TextBox 11"/>
            <p:cNvSpPr txBox="1"/>
            <p:nvPr/>
          </p:nvSpPr>
          <p:spPr>
            <a:xfrm>
              <a:off x="0" y="133350"/>
              <a:ext cx="7264400" cy="36470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Limitations of Current Methods</a:t>
              </a:r>
            </a:p>
          </p:txBody>
        </p:sp>
        <p:sp>
          <p:nvSpPr>
            <p:cNvPr id="12" name="TextBox 12"/>
            <p:cNvSpPr txBox="1"/>
            <p:nvPr/>
          </p:nvSpPr>
          <p:spPr>
            <a:xfrm>
              <a:off x="0" y="4100127"/>
              <a:ext cx="7264400" cy="628650"/>
            </a:xfrm>
            <a:prstGeom prst="rect">
              <a:avLst/>
            </a:prstGeom>
          </p:spPr>
          <p:txBody>
            <a:bodyPr lIns="0" tIns="0" rIns="0" bIns="0" rtlCol="0" anchor="t">
              <a:spAutoFit/>
            </a:bodyPr>
            <a:lstStyle/>
            <a:p>
              <a:pPr marL="0" lvl="0" indent="0" algn="l">
                <a:lnSpc>
                  <a:spcPts val="3600"/>
                </a:lnSpc>
                <a:spcBef>
                  <a:spcPct val="0"/>
                </a:spcBef>
              </a:pPr>
              <a:r>
                <a:rPr lang="en-US" sz="3000" u="none" strike="noStrike" spc="-165">
                  <a:solidFill>
                    <a:srgbClr val="C1DBEE"/>
                  </a:solidFill>
                  <a:latin typeface="Work Sans"/>
                  <a:ea typeface="Work Sans"/>
                  <a:cs typeface="Work Sans"/>
                  <a:sym typeface="Work Sans"/>
                </a:rPr>
                <a:t>Existing Tests and AI Tools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22676A"/>
            </a:solidFill>
          </p:spPr>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3DA4AB"/>
            </a:solidFill>
          </p:spPr>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5257" r="-5257"/>
              </a:stretch>
            </a:blipFill>
          </p:spPr>
        </p:sp>
      </p:grpSp>
      <p:grpSp>
        <p:nvGrpSpPr>
          <p:cNvPr id="9" name="Group 9"/>
          <p:cNvGrpSpPr/>
          <p:nvPr/>
        </p:nvGrpSpPr>
        <p:grpSpPr>
          <a:xfrm>
            <a:off x="2105025" y="1562100"/>
            <a:ext cx="5448300" cy="4383513"/>
            <a:chOff x="0" y="0"/>
            <a:chExt cx="7264400" cy="5844684"/>
          </a:xfrm>
        </p:grpSpPr>
        <p:sp>
          <p:nvSpPr>
            <p:cNvPr id="10" name="TextBox 10"/>
            <p:cNvSpPr txBox="1"/>
            <p:nvPr/>
          </p:nvSpPr>
          <p:spPr>
            <a:xfrm>
              <a:off x="50129" y="3565669"/>
              <a:ext cx="7214271" cy="2279015"/>
            </a:xfrm>
            <a:prstGeom prst="rect">
              <a:avLst/>
            </a:prstGeom>
          </p:spPr>
          <p:txBody>
            <a:bodyPr lIns="0" tIns="0" rIns="0" bIns="0" rtlCol="0" anchor="t">
              <a:spAutoFit/>
            </a:bodyPr>
            <a:lstStyle/>
            <a:p>
              <a:pPr marL="0" lvl="0" indent="0" algn="l">
                <a:lnSpc>
                  <a:spcPts val="2730"/>
                </a:lnSpc>
              </a:pPr>
              <a:r>
                <a:rPr lang="en-US" sz="2100" spc="-115">
                  <a:solidFill>
                    <a:srgbClr val="D1E8FF"/>
                  </a:solidFill>
                  <a:latin typeface="Work Sans"/>
                  <a:ea typeface="Work Sans"/>
                  <a:cs typeface="Work Sans"/>
                  <a:sym typeface="Work Sans"/>
                </a:rPr>
                <a:t>CardioShield AI leverages </a:t>
              </a:r>
              <a:r>
                <a:rPr lang="en-US" sz="2100" b="1" spc="-115">
                  <a:solidFill>
                    <a:srgbClr val="D1E8FF"/>
                  </a:solidFill>
                  <a:latin typeface="Work Sans Bold"/>
                  <a:ea typeface="Work Sans Bold"/>
                  <a:cs typeface="Work Sans Bold"/>
                  <a:sym typeface="Work Sans Bold"/>
                </a:rPr>
                <a:t>11 essential clinical parameters</a:t>
              </a:r>
              <a:r>
                <a:rPr lang="en-US" sz="2100" spc="-115">
                  <a:solidFill>
                    <a:srgbClr val="D1E8FF"/>
                  </a:solidFill>
                  <a:latin typeface="Work Sans"/>
                  <a:ea typeface="Work Sans"/>
                  <a:cs typeface="Work Sans"/>
                  <a:sym typeface="Work Sans"/>
                </a:rPr>
                <a:t> for cardiovascular risk prediction, eliminating the need for costly lab tests, thus ensuring accessibility for underserved populations in need.</a:t>
              </a:r>
            </a:p>
          </p:txBody>
        </p:sp>
        <p:sp>
          <p:nvSpPr>
            <p:cNvPr id="11" name="TextBox 11"/>
            <p:cNvSpPr txBox="1"/>
            <p:nvPr/>
          </p:nvSpPr>
          <p:spPr>
            <a:xfrm>
              <a:off x="0" y="133350"/>
              <a:ext cx="72644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Our Solution</a:t>
              </a:r>
            </a:p>
          </p:txBody>
        </p:sp>
        <p:sp>
          <p:nvSpPr>
            <p:cNvPr id="12" name="TextBox 12"/>
            <p:cNvSpPr txBox="1"/>
            <p:nvPr/>
          </p:nvSpPr>
          <p:spPr>
            <a:xfrm>
              <a:off x="0" y="1737927"/>
              <a:ext cx="7264400" cy="1238250"/>
            </a:xfrm>
            <a:prstGeom prst="rect">
              <a:avLst/>
            </a:prstGeom>
          </p:spPr>
          <p:txBody>
            <a:bodyPr lIns="0" tIns="0" rIns="0" bIns="0" rtlCol="0" anchor="t">
              <a:spAutoFit/>
            </a:bodyPr>
            <a:lstStyle/>
            <a:p>
              <a:pPr marL="0" lvl="0" indent="0" algn="l">
                <a:lnSpc>
                  <a:spcPts val="3600"/>
                </a:lnSpc>
                <a:spcBef>
                  <a:spcPct val="0"/>
                </a:spcBef>
              </a:pPr>
              <a:r>
                <a:rPr lang="en-US" sz="3000" u="none" strike="noStrike" spc="-165">
                  <a:solidFill>
                    <a:srgbClr val="C1DBEE"/>
                  </a:solidFill>
                  <a:latin typeface="Work Sans"/>
                  <a:ea typeface="Work Sans"/>
                  <a:cs typeface="Work Sans"/>
                  <a:sym typeface="Work Sans"/>
                </a:rPr>
                <a:t>Overview of CardioShield AI Features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22676A"/>
            </a:solidFill>
            <a:ln cap="rnd">
              <a:noFill/>
              <a:prstDash val="solid"/>
              <a:round/>
            </a:ln>
          </p:spPr>
        </p:sp>
      </p:grpSp>
      <p:grpSp>
        <p:nvGrpSpPr>
          <p:cNvPr id="4" name="Group 4"/>
          <p:cNvGrpSpPr/>
          <p:nvPr/>
        </p:nvGrpSpPr>
        <p:grpSpPr>
          <a:xfrm>
            <a:off x="2105025" y="1562100"/>
            <a:ext cx="6886575" cy="4599042"/>
            <a:chOff x="0" y="0"/>
            <a:chExt cx="9182100" cy="6132056"/>
          </a:xfrm>
        </p:grpSpPr>
        <p:sp>
          <p:nvSpPr>
            <p:cNvPr id="5" name="TextBox 5"/>
            <p:cNvSpPr txBox="1"/>
            <p:nvPr/>
          </p:nvSpPr>
          <p:spPr>
            <a:xfrm>
              <a:off x="0" y="2769731"/>
              <a:ext cx="7264400" cy="3362325"/>
            </a:xfrm>
            <a:prstGeom prst="rect">
              <a:avLst/>
            </a:prstGeom>
          </p:spPr>
          <p:txBody>
            <a:bodyPr lIns="0" tIns="0" rIns="0" bIns="0" rtlCol="0" anchor="t">
              <a:spAutoFit/>
            </a:bodyPr>
            <a:lstStyle/>
            <a:p>
              <a:pPr marL="0" lvl="0" indent="0" algn="l">
                <a:lnSpc>
                  <a:spcPts val="2520"/>
                </a:lnSpc>
              </a:pPr>
              <a:r>
                <a:rPr lang="en-US" sz="2100" spc="-115">
                  <a:solidFill>
                    <a:srgbClr val="D1E8FF"/>
                  </a:solidFill>
                  <a:latin typeface="Work Sans"/>
                  <a:ea typeface="Work Sans"/>
                  <a:cs typeface="Work Sans"/>
                  <a:sym typeface="Work Sans"/>
                </a:rPr>
                <a:t>The CardioShield AI pipeline encompasses essential steps including data input, cleaning, feature engineering, and model prediction using advanced techniques. This structured approach ensures high accuracy and interpretability, enabling effective cardiovascular risk stratification and timely intervention for at-risk individuals.</a:t>
              </a:r>
            </a:p>
          </p:txBody>
        </p:sp>
        <p:sp>
          <p:nvSpPr>
            <p:cNvPr id="6" name="TextBox 6"/>
            <p:cNvSpPr txBox="1"/>
            <p:nvPr/>
          </p:nvSpPr>
          <p:spPr>
            <a:xfrm>
              <a:off x="0" y="133350"/>
              <a:ext cx="9182100" cy="24659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AI Processing Pipeline</a:t>
              </a:r>
            </a:p>
          </p:txBody>
        </p:sp>
      </p:grpSp>
      <p:grpSp>
        <p:nvGrpSpPr>
          <p:cNvPr id="7" name="Group 7"/>
          <p:cNvGrpSpPr/>
          <p:nvPr/>
        </p:nvGrpSpPr>
        <p:grpSpPr>
          <a:xfrm>
            <a:off x="10312605" y="981075"/>
            <a:ext cx="6946695" cy="7471274"/>
            <a:chOff x="0" y="0"/>
            <a:chExt cx="3482081" cy="3745030"/>
          </a:xfrm>
        </p:grpSpPr>
        <p:sp>
          <p:nvSpPr>
            <p:cNvPr id="8" name="Freeform 8"/>
            <p:cNvSpPr/>
            <p:nvPr/>
          </p:nvSpPr>
          <p:spPr>
            <a:xfrm>
              <a:off x="54483" y="50038"/>
              <a:ext cx="3372988" cy="3645589"/>
            </a:xfrm>
            <a:custGeom>
              <a:avLst/>
              <a:gdLst/>
              <a:ahLst/>
              <a:cxnLst/>
              <a:rect l="l" t="t" r="r" b="b"/>
              <a:pathLst>
                <a:path w="3372988" h="3645589">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528" r="-528"/>
              </a:stretch>
            </a:blipFill>
          </p:spPr>
        </p:sp>
        <p:sp>
          <p:nvSpPr>
            <p:cNvPr id="9" name="Freeform 9"/>
            <p:cNvSpPr/>
            <p:nvPr/>
          </p:nvSpPr>
          <p:spPr>
            <a:xfrm>
              <a:off x="0" y="0"/>
              <a:ext cx="3481954" cy="3744903"/>
            </a:xfrm>
            <a:custGeom>
              <a:avLst/>
              <a:gdLst/>
              <a:ahLst/>
              <a:cxnLst/>
              <a:rect l="l" t="t" r="r" b="b"/>
              <a:pathLst>
                <a:path w="3481954" h="3744903">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C1DBEE"/>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22676A"/>
            </a:solidFill>
          </p:spPr>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3DA4AB"/>
            </a:solidFill>
          </p:spPr>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sp>
      </p:grpSp>
      <p:grpSp>
        <p:nvGrpSpPr>
          <p:cNvPr id="9" name="Group 9"/>
          <p:cNvGrpSpPr/>
          <p:nvPr/>
        </p:nvGrpSpPr>
        <p:grpSpPr>
          <a:xfrm>
            <a:off x="2105025" y="1562100"/>
            <a:ext cx="5448300" cy="5269338"/>
            <a:chOff x="0" y="0"/>
            <a:chExt cx="7264400" cy="7025784"/>
          </a:xfrm>
        </p:grpSpPr>
        <p:sp>
          <p:nvSpPr>
            <p:cNvPr id="10" name="TextBox 10"/>
            <p:cNvSpPr txBox="1"/>
            <p:nvPr/>
          </p:nvSpPr>
          <p:spPr>
            <a:xfrm>
              <a:off x="50129" y="4746769"/>
              <a:ext cx="7214271" cy="2279015"/>
            </a:xfrm>
            <a:prstGeom prst="rect">
              <a:avLst/>
            </a:prstGeom>
          </p:spPr>
          <p:txBody>
            <a:bodyPr lIns="0" tIns="0" rIns="0" bIns="0" rtlCol="0" anchor="t">
              <a:spAutoFit/>
            </a:bodyPr>
            <a:lstStyle/>
            <a:p>
              <a:pPr marL="0" lvl="0" indent="0" algn="l">
                <a:lnSpc>
                  <a:spcPts val="2730"/>
                </a:lnSpc>
              </a:pPr>
              <a:r>
                <a:rPr lang="en-US" sz="2100" spc="-115">
                  <a:solidFill>
                    <a:srgbClr val="D1E8FF"/>
                  </a:solidFill>
                  <a:latin typeface="Work Sans"/>
                  <a:ea typeface="Work Sans"/>
                  <a:cs typeface="Work Sans"/>
                  <a:sym typeface="Work Sans"/>
                </a:rPr>
                <a:t>The architecture consists of a </a:t>
              </a:r>
              <a:r>
                <a:rPr lang="en-US" sz="2100" b="1" spc="-115">
                  <a:solidFill>
                    <a:srgbClr val="D1E8FF"/>
                  </a:solidFill>
                  <a:latin typeface="Work Sans Bold"/>
                  <a:ea typeface="Work Sans Bold"/>
                  <a:cs typeface="Work Sans Bold"/>
                  <a:sym typeface="Work Sans Bold"/>
                </a:rPr>
                <a:t>React frontend</a:t>
              </a:r>
              <a:r>
                <a:rPr lang="en-US" sz="2100" spc="-115">
                  <a:solidFill>
                    <a:srgbClr val="D1E8FF"/>
                  </a:solidFill>
                  <a:latin typeface="Work Sans"/>
                  <a:ea typeface="Work Sans"/>
                  <a:cs typeface="Work Sans"/>
                  <a:sym typeface="Work Sans"/>
                </a:rPr>
                <a:t>, Node.js backend, and a Python-based ML service, ensuring efficient real-time performance with a microservices approach and seamless data flow.</a:t>
              </a:r>
            </a:p>
          </p:txBody>
        </p:sp>
        <p:sp>
          <p:nvSpPr>
            <p:cNvPr id="11" name="TextBox 11"/>
            <p:cNvSpPr txBox="1"/>
            <p:nvPr/>
          </p:nvSpPr>
          <p:spPr>
            <a:xfrm>
              <a:off x="0" y="133350"/>
              <a:ext cx="7264400" cy="24659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System Architecture</a:t>
              </a:r>
            </a:p>
          </p:txBody>
        </p:sp>
        <p:sp>
          <p:nvSpPr>
            <p:cNvPr id="12" name="TextBox 12"/>
            <p:cNvSpPr txBox="1"/>
            <p:nvPr/>
          </p:nvSpPr>
          <p:spPr>
            <a:xfrm>
              <a:off x="0" y="2919027"/>
              <a:ext cx="7264400" cy="1238250"/>
            </a:xfrm>
            <a:prstGeom prst="rect">
              <a:avLst/>
            </a:prstGeom>
          </p:spPr>
          <p:txBody>
            <a:bodyPr lIns="0" tIns="0" rIns="0" bIns="0" rtlCol="0" anchor="t">
              <a:spAutoFit/>
            </a:bodyPr>
            <a:lstStyle/>
            <a:p>
              <a:pPr marL="0" lvl="0" indent="0" algn="l">
                <a:lnSpc>
                  <a:spcPts val="3600"/>
                </a:lnSpc>
                <a:spcBef>
                  <a:spcPct val="0"/>
                </a:spcBef>
              </a:pPr>
              <a:r>
                <a:rPr lang="en-US" sz="3000" u="none" strike="noStrike" spc="-165">
                  <a:solidFill>
                    <a:srgbClr val="C1DBEE"/>
                  </a:solidFill>
                  <a:latin typeface="Work Sans"/>
                  <a:ea typeface="Work Sans"/>
                  <a:cs typeface="Work Sans"/>
                  <a:sym typeface="Work Sans"/>
                </a:rPr>
                <a:t>Overview of Technical Stack Components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22676A"/>
            </a:solidFill>
          </p:spPr>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3DA4AB"/>
            </a:solidFill>
          </p:spPr>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5257" r="-5257"/>
              </a:stretch>
            </a:blipFill>
          </p:spPr>
        </p:sp>
      </p:grpSp>
      <p:grpSp>
        <p:nvGrpSpPr>
          <p:cNvPr id="9" name="Group 9"/>
          <p:cNvGrpSpPr/>
          <p:nvPr/>
        </p:nvGrpSpPr>
        <p:grpSpPr>
          <a:xfrm>
            <a:off x="2105025" y="1562100"/>
            <a:ext cx="5448300" cy="5269338"/>
            <a:chOff x="0" y="0"/>
            <a:chExt cx="7264400" cy="7025784"/>
          </a:xfrm>
        </p:grpSpPr>
        <p:sp>
          <p:nvSpPr>
            <p:cNvPr id="10" name="TextBox 10"/>
            <p:cNvSpPr txBox="1"/>
            <p:nvPr/>
          </p:nvSpPr>
          <p:spPr>
            <a:xfrm>
              <a:off x="50129" y="4746769"/>
              <a:ext cx="7214271" cy="2279015"/>
            </a:xfrm>
            <a:prstGeom prst="rect">
              <a:avLst/>
            </a:prstGeom>
          </p:spPr>
          <p:txBody>
            <a:bodyPr lIns="0" tIns="0" rIns="0" bIns="0" rtlCol="0" anchor="t">
              <a:spAutoFit/>
            </a:bodyPr>
            <a:lstStyle/>
            <a:p>
              <a:pPr marL="0" lvl="0" indent="0" algn="l">
                <a:lnSpc>
                  <a:spcPts val="2730"/>
                </a:lnSpc>
              </a:pPr>
              <a:r>
                <a:rPr lang="en-US" sz="2100" spc="-115">
                  <a:solidFill>
                    <a:srgbClr val="D1E8FF"/>
                  </a:solidFill>
                  <a:latin typeface="Work Sans"/>
                  <a:ea typeface="Work Sans"/>
                  <a:cs typeface="Work Sans"/>
                  <a:sym typeface="Work Sans"/>
                </a:rPr>
                <a:t>The dataset consists of 70,000 records with 11 raw features and 5 engineered features, enabling comparison of various models including XGBoost, which achieved the highest performance metrics.</a:t>
              </a:r>
            </a:p>
          </p:txBody>
        </p:sp>
        <p:sp>
          <p:nvSpPr>
            <p:cNvPr id="11" name="TextBox 11"/>
            <p:cNvSpPr txBox="1"/>
            <p:nvPr/>
          </p:nvSpPr>
          <p:spPr>
            <a:xfrm>
              <a:off x="0" y="133350"/>
              <a:ext cx="7264400" cy="24659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Model Development</a:t>
              </a:r>
            </a:p>
          </p:txBody>
        </p:sp>
        <p:sp>
          <p:nvSpPr>
            <p:cNvPr id="12" name="TextBox 12"/>
            <p:cNvSpPr txBox="1"/>
            <p:nvPr/>
          </p:nvSpPr>
          <p:spPr>
            <a:xfrm>
              <a:off x="0" y="2919027"/>
              <a:ext cx="7264400" cy="1238250"/>
            </a:xfrm>
            <a:prstGeom prst="rect">
              <a:avLst/>
            </a:prstGeom>
          </p:spPr>
          <p:txBody>
            <a:bodyPr lIns="0" tIns="0" rIns="0" bIns="0" rtlCol="0" anchor="t">
              <a:spAutoFit/>
            </a:bodyPr>
            <a:lstStyle/>
            <a:p>
              <a:pPr marL="0" lvl="0" indent="0" algn="l">
                <a:lnSpc>
                  <a:spcPts val="3600"/>
                </a:lnSpc>
                <a:spcBef>
                  <a:spcPct val="0"/>
                </a:spcBef>
              </a:pPr>
              <a:r>
                <a:rPr lang="en-US" sz="3000" u="none" strike="noStrike" spc="-165">
                  <a:solidFill>
                    <a:srgbClr val="C1DBEE"/>
                  </a:solidFill>
                  <a:latin typeface="Work Sans"/>
                  <a:ea typeface="Work Sans"/>
                  <a:cs typeface="Work Sans"/>
                  <a:sym typeface="Work Sans"/>
                </a:rPr>
                <a:t>Performance Metrics and Dataset Overview</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22676A"/>
            </a:solidFill>
            <a:ln cap="rnd">
              <a:noFill/>
              <a:prstDash val="solid"/>
              <a:round/>
            </a:ln>
          </p:spPr>
        </p:sp>
      </p:grpSp>
      <p:grpSp>
        <p:nvGrpSpPr>
          <p:cNvPr id="4" name="Group 4"/>
          <p:cNvGrpSpPr/>
          <p:nvPr/>
        </p:nvGrpSpPr>
        <p:grpSpPr>
          <a:xfrm>
            <a:off x="2105025" y="1562100"/>
            <a:ext cx="6886575" cy="3713217"/>
            <a:chOff x="0" y="0"/>
            <a:chExt cx="9182100" cy="4950956"/>
          </a:xfrm>
        </p:grpSpPr>
        <p:sp>
          <p:nvSpPr>
            <p:cNvPr id="5" name="TextBox 5"/>
            <p:cNvSpPr txBox="1"/>
            <p:nvPr/>
          </p:nvSpPr>
          <p:spPr>
            <a:xfrm>
              <a:off x="0" y="1588631"/>
              <a:ext cx="7264400" cy="3362325"/>
            </a:xfrm>
            <a:prstGeom prst="rect">
              <a:avLst/>
            </a:prstGeom>
          </p:spPr>
          <p:txBody>
            <a:bodyPr lIns="0" tIns="0" rIns="0" bIns="0" rtlCol="0" anchor="t">
              <a:spAutoFit/>
            </a:bodyPr>
            <a:lstStyle/>
            <a:p>
              <a:pPr marL="0" lvl="0" indent="0" algn="l">
                <a:lnSpc>
                  <a:spcPts val="2520"/>
                </a:lnSpc>
              </a:pPr>
              <a:r>
                <a:rPr lang="en-US" sz="2100" spc="-115">
                  <a:solidFill>
                    <a:srgbClr val="D1E8FF"/>
                  </a:solidFill>
                  <a:latin typeface="Work Sans"/>
                  <a:ea typeface="Work Sans"/>
                  <a:cs typeface="Work Sans"/>
                  <a:sym typeface="Work Sans"/>
                </a:rPr>
                <a:t>In healthcare, prioritizing </a:t>
              </a:r>
              <a:r>
                <a:rPr lang="en-US" sz="2100" b="1" spc="-115">
                  <a:solidFill>
                    <a:srgbClr val="D1E8FF"/>
                  </a:solidFill>
                  <a:latin typeface="Work Sans Bold"/>
                  <a:ea typeface="Work Sans Bold"/>
                  <a:cs typeface="Work Sans Bold"/>
                  <a:sym typeface="Work Sans Bold"/>
                </a:rPr>
                <a:t>high recall</a:t>
              </a:r>
              <a:r>
                <a:rPr lang="en-US" sz="2100" spc="-115">
                  <a:solidFill>
                    <a:srgbClr val="D1E8FF"/>
                  </a:solidFill>
                  <a:latin typeface="Work Sans"/>
                  <a:ea typeface="Work Sans"/>
                  <a:cs typeface="Work Sans"/>
                  <a:sym typeface="Work Sans"/>
                </a:rPr>
                <a:t> is essential for identifying high-risk patients. This approach minimizes the risk of false negatives, ensuring timely interventions. By focusing on recall, CardioShield AI enhances early detection capabilities and improves patient outcomes through proactive risk management and timely medical responses.</a:t>
              </a:r>
            </a:p>
          </p:txBody>
        </p:sp>
        <p:sp>
          <p:nvSpPr>
            <p:cNvPr id="6" name="TextBox 6"/>
            <p:cNvSpPr txBox="1"/>
            <p:nvPr/>
          </p:nvSpPr>
          <p:spPr>
            <a:xfrm>
              <a:off x="0" y="133350"/>
              <a:ext cx="91821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High Recall</a:t>
              </a:r>
            </a:p>
          </p:txBody>
        </p:sp>
      </p:grpSp>
      <p:grpSp>
        <p:nvGrpSpPr>
          <p:cNvPr id="7" name="Group 7"/>
          <p:cNvGrpSpPr/>
          <p:nvPr/>
        </p:nvGrpSpPr>
        <p:grpSpPr>
          <a:xfrm>
            <a:off x="10312605" y="981075"/>
            <a:ext cx="6946695" cy="7471274"/>
            <a:chOff x="0" y="0"/>
            <a:chExt cx="3482081" cy="3745030"/>
          </a:xfrm>
        </p:grpSpPr>
        <p:sp>
          <p:nvSpPr>
            <p:cNvPr id="8" name="Freeform 8"/>
            <p:cNvSpPr/>
            <p:nvPr/>
          </p:nvSpPr>
          <p:spPr>
            <a:xfrm>
              <a:off x="54483" y="50038"/>
              <a:ext cx="3372988" cy="3645589"/>
            </a:xfrm>
            <a:custGeom>
              <a:avLst/>
              <a:gdLst/>
              <a:ahLst/>
              <a:cxnLst/>
              <a:rect l="l" t="t" r="r" b="b"/>
              <a:pathLst>
                <a:path w="3372988" h="3645589">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528" r="-528"/>
              </a:stretch>
            </a:blipFill>
          </p:spPr>
        </p:sp>
        <p:sp>
          <p:nvSpPr>
            <p:cNvPr id="9" name="Freeform 9"/>
            <p:cNvSpPr/>
            <p:nvPr/>
          </p:nvSpPr>
          <p:spPr>
            <a:xfrm>
              <a:off x="0" y="0"/>
              <a:ext cx="3481954" cy="3744903"/>
            </a:xfrm>
            <a:custGeom>
              <a:avLst/>
              <a:gdLst/>
              <a:ahLst/>
              <a:cxnLst/>
              <a:rect l="l" t="t" r="r" b="b"/>
              <a:pathLst>
                <a:path w="3481954" h="3744903">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C1DBEE"/>
            </a:solid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22676A"/>
            </a:solidFill>
            <a:ln cap="rnd">
              <a:noFill/>
              <a:prstDash val="solid"/>
              <a:round/>
            </a:ln>
          </p:spPr>
        </p:sp>
      </p:grpSp>
      <p:grpSp>
        <p:nvGrpSpPr>
          <p:cNvPr id="4" name="Group 4"/>
          <p:cNvGrpSpPr/>
          <p:nvPr/>
        </p:nvGrpSpPr>
        <p:grpSpPr>
          <a:xfrm>
            <a:off x="2105025" y="1562100"/>
            <a:ext cx="6886575" cy="3713217"/>
            <a:chOff x="0" y="0"/>
            <a:chExt cx="9182100" cy="4950956"/>
          </a:xfrm>
        </p:grpSpPr>
        <p:sp>
          <p:nvSpPr>
            <p:cNvPr id="5" name="TextBox 5"/>
            <p:cNvSpPr txBox="1"/>
            <p:nvPr/>
          </p:nvSpPr>
          <p:spPr>
            <a:xfrm>
              <a:off x="0" y="1588631"/>
              <a:ext cx="7264400" cy="3362325"/>
            </a:xfrm>
            <a:prstGeom prst="rect">
              <a:avLst/>
            </a:prstGeom>
          </p:spPr>
          <p:txBody>
            <a:bodyPr lIns="0" tIns="0" rIns="0" bIns="0" rtlCol="0" anchor="t">
              <a:spAutoFit/>
            </a:bodyPr>
            <a:lstStyle/>
            <a:p>
              <a:pPr marL="0" lvl="0" indent="0" algn="l">
                <a:lnSpc>
                  <a:spcPts val="2520"/>
                </a:lnSpc>
              </a:pPr>
              <a:r>
                <a:rPr lang="en-US" sz="2100" spc="-115">
                  <a:solidFill>
                    <a:srgbClr val="D1E8FF"/>
                  </a:solidFill>
                  <a:latin typeface="Work Sans"/>
                  <a:ea typeface="Work Sans"/>
                  <a:cs typeface="Work Sans"/>
                  <a:sym typeface="Work Sans"/>
                </a:rPr>
                <a:t>SHAP (SHapley Additive exPlanations) values enhance transparency by providing insights into individual predictions. By highlighting the influence of various features, including systolic blood pressure and age, healthcare professionals can better understand risk factors, enabling informed patient discussions and personalized care strategies.</a:t>
              </a:r>
            </a:p>
          </p:txBody>
        </p:sp>
        <p:sp>
          <p:nvSpPr>
            <p:cNvPr id="6" name="TextBox 6"/>
            <p:cNvSpPr txBox="1"/>
            <p:nvPr/>
          </p:nvSpPr>
          <p:spPr>
            <a:xfrm>
              <a:off x="0" y="133350"/>
              <a:ext cx="91821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Explainable AI</a:t>
              </a:r>
            </a:p>
          </p:txBody>
        </p:sp>
      </p:grpSp>
      <p:grpSp>
        <p:nvGrpSpPr>
          <p:cNvPr id="7" name="Group 7"/>
          <p:cNvGrpSpPr/>
          <p:nvPr/>
        </p:nvGrpSpPr>
        <p:grpSpPr>
          <a:xfrm>
            <a:off x="10312605" y="981075"/>
            <a:ext cx="6946695" cy="7471274"/>
            <a:chOff x="0" y="0"/>
            <a:chExt cx="3482081" cy="3745030"/>
          </a:xfrm>
        </p:grpSpPr>
        <p:sp>
          <p:nvSpPr>
            <p:cNvPr id="8" name="Freeform 8"/>
            <p:cNvSpPr/>
            <p:nvPr/>
          </p:nvSpPr>
          <p:spPr>
            <a:xfrm>
              <a:off x="54483" y="50038"/>
              <a:ext cx="3372988" cy="3645589"/>
            </a:xfrm>
            <a:custGeom>
              <a:avLst/>
              <a:gdLst/>
              <a:ahLst/>
              <a:cxnLst/>
              <a:rect l="l" t="t" r="r" b="b"/>
              <a:pathLst>
                <a:path w="3372988" h="3645589">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528" r="-528"/>
              </a:stretch>
            </a:blipFill>
          </p:spPr>
        </p:sp>
        <p:sp>
          <p:nvSpPr>
            <p:cNvPr id="9" name="Freeform 9"/>
            <p:cNvSpPr/>
            <p:nvPr/>
          </p:nvSpPr>
          <p:spPr>
            <a:xfrm>
              <a:off x="0" y="0"/>
              <a:ext cx="3481954" cy="3744903"/>
            </a:xfrm>
            <a:custGeom>
              <a:avLst/>
              <a:gdLst/>
              <a:ahLst/>
              <a:cxnLst/>
              <a:rect l="l" t="t" r="r" b="b"/>
              <a:pathLst>
                <a:path w="3481954" h="3744903">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C1DBEE"/>
            </a:solid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22676A"/>
            </a:solidFill>
            <a:ln cap="rnd">
              <a:noFill/>
              <a:prstDash val="solid"/>
              <a:round/>
            </a:ln>
          </p:spPr>
        </p:sp>
      </p:grpSp>
      <p:grpSp>
        <p:nvGrpSpPr>
          <p:cNvPr id="4" name="Group 4"/>
          <p:cNvGrpSpPr/>
          <p:nvPr/>
        </p:nvGrpSpPr>
        <p:grpSpPr>
          <a:xfrm>
            <a:off x="2105025" y="1562100"/>
            <a:ext cx="6886575" cy="3713217"/>
            <a:chOff x="0" y="0"/>
            <a:chExt cx="9182100" cy="4950956"/>
          </a:xfrm>
        </p:grpSpPr>
        <p:sp>
          <p:nvSpPr>
            <p:cNvPr id="5" name="TextBox 5"/>
            <p:cNvSpPr txBox="1"/>
            <p:nvPr/>
          </p:nvSpPr>
          <p:spPr>
            <a:xfrm>
              <a:off x="0" y="1588631"/>
              <a:ext cx="7264400" cy="3362325"/>
            </a:xfrm>
            <a:prstGeom prst="rect">
              <a:avLst/>
            </a:prstGeom>
          </p:spPr>
          <p:txBody>
            <a:bodyPr lIns="0" tIns="0" rIns="0" bIns="0" rtlCol="0" anchor="t">
              <a:spAutoFit/>
            </a:bodyPr>
            <a:lstStyle/>
            <a:p>
              <a:pPr marL="0" lvl="0" indent="0" algn="l">
                <a:lnSpc>
                  <a:spcPts val="2520"/>
                </a:lnSpc>
              </a:pPr>
              <a:r>
                <a:rPr lang="en-US" sz="2100" spc="-115">
                  <a:solidFill>
                    <a:srgbClr val="D1E8FF"/>
                  </a:solidFill>
                  <a:latin typeface="Work Sans"/>
                  <a:ea typeface="Work Sans"/>
                  <a:cs typeface="Work Sans"/>
                  <a:sym typeface="Work Sans"/>
                </a:rPr>
                <a:t>Understanding </a:t>
              </a:r>
              <a:r>
                <a:rPr lang="en-US" sz="2100" b="1" spc="-115">
                  <a:solidFill>
                    <a:srgbClr val="D1E8FF"/>
                  </a:solidFill>
                  <a:latin typeface="Work Sans Bold"/>
                  <a:ea typeface="Work Sans Bold"/>
                  <a:cs typeface="Work Sans Bold"/>
                  <a:sym typeface="Work Sans Bold"/>
                </a:rPr>
                <a:t>what-if scenarios</a:t>
              </a:r>
              <a:r>
                <a:rPr lang="en-US" sz="2100" spc="-115">
                  <a:solidFill>
                    <a:srgbClr val="D1E8FF"/>
                  </a:solidFill>
                  <a:latin typeface="Work Sans"/>
                  <a:ea typeface="Work Sans"/>
                  <a:cs typeface="Work Sans"/>
                  <a:sym typeface="Work Sans"/>
                </a:rPr>
                <a:t> allows healthcare professionals to visualize the potential impact of lifestyle changes on cardiovascular risk. For example, reducing blood pressure from 160 to 120 can significantly lower risk percentages, aiding in patient counseling and promoting proactive health management.</a:t>
              </a:r>
            </a:p>
          </p:txBody>
        </p:sp>
        <p:sp>
          <p:nvSpPr>
            <p:cNvPr id="6" name="TextBox 6"/>
            <p:cNvSpPr txBox="1"/>
            <p:nvPr/>
          </p:nvSpPr>
          <p:spPr>
            <a:xfrm>
              <a:off x="0" y="133350"/>
              <a:ext cx="91821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Counterfactuals</a:t>
              </a:r>
            </a:p>
          </p:txBody>
        </p:sp>
      </p:grpSp>
      <p:grpSp>
        <p:nvGrpSpPr>
          <p:cNvPr id="7" name="Group 7"/>
          <p:cNvGrpSpPr/>
          <p:nvPr/>
        </p:nvGrpSpPr>
        <p:grpSpPr>
          <a:xfrm>
            <a:off x="10312605" y="981075"/>
            <a:ext cx="6946695" cy="7471274"/>
            <a:chOff x="0" y="0"/>
            <a:chExt cx="3482081" cy="3745030"/>
          </a:xfrm>
        </p:grpSpPr>
        <p:sp>
          <p:nvSpPr>
            <p:cNvPr id="8" name="Freeform 8"/>
            <p:cNvSpPr/>
            <p:nvPr/>
          </p:nvSpPr>
          <p:spPr>
            <a:xfrm>
              <a:off x="54483" y="50038"/>
              <a:ext cx="3372988" cy="3645589"/>
            </a:xfrm>
            <a:custGeom>
              <a:avLst/>
              <a:gdLst/>
              <a:ahLst/>
              <a:cxnLst/>
              <a:rect l="l" t="t" r="r" b="b"/>
              <a:pathLst>
                <a:path w="3372988" h="3645589">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528" r="-528"/>
              </a:stretch>
            </a:blipFill>
          </p:spPr>
        </p:sp>
        <p:sp>
          <p:nvSpPr>
            <p:cNvPr id="9" name="Freeform 9"/>
            <p:cNvSpPr/>
            <p:nvPr/>
          </p:nvSpPr>
          <p:spPr>
            <a:xfrm>
              <a:off x="0" y="0"/>
              <a:ext cx="3481954" cy="3744903"/>
            </a:xfrm>
            <a:custGeom>
              <a:avLst/>
              <a:gdLst/>
              <a:ahLst/>
              <a:cxnLst/>
              <a:rect l="l" t="t" r="r" b="b"/>
              <a:pathLst>
                <a:path w="3481954" h="3744903">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C1DBEE"/>
            </a:solid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22676A"/>
            </a:solidFill>
          </p:spPr>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3DA4AB"/>
            </a:solidFill>
          </p:spPr>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sp>
      </p:grpSp>
      <p:grpSp>
        <p:nvGrpSpPr>
          <p:cNvPr id="9" name="Group 9"/>
          <p:cNvGrpSpPr/>
          <p:nvPr/>
        </p:nvGrpSpPr>
        <p:grpSpPr>
          <a:xfrm>
            <a:off x="2105025" y="1562100"/>
            <a:ext cx="5448300" cy="5812263"/>
            <a:chOff x="0" y="0"/>
            <a:chExt cx="7264400" cy="7749684"/>
          </a:xfrm>
        </p:grpSpPr>
        <p:sp>
          <p:nvSpPr>
            <p:cNvPr id="10" name="TextBox 10"/>
            <p:cNvSpPr txBox="1"/>
            <p:nvPr/>
          </p:nvSpPr>
          <p:spPr>
            <a:xfrm>
              <a:off x="50129" y="5927869"/>
              <a:ext cx="7214271" cy="1821815"/>
            </a:xfrm>
            <a:prstGeom prst="rect">
              <a:avLst/>
            </a:prstGeom>
          </p:spPr>
          <p:txBody>
            <a:bodyPr lIns="0" tIns="0" rIns="0" bIns="0" rtlCol="0" anchor="t">
              <a:spAutoFit/>
            </a:bodyPr>
            <a:lstStyle/>
            <a:p>
              <a:pPr marL="0" lvl="0" indent="0" algn="l">
                <a:lnSpc>
                  <a:spcPts val="2730"/>
                </a:lnSpc>
              </a:pPr>
              <a:r>
                <a:rPr lang="en-US" sz="2100" spc="-115">
                  <a:solidFill>
                    <a:srgbClr val="D1E8FF"/>
                  </a:solidFill>
                  <a:latin typeface="Work Sans"/>
                  <a:ea typeface="Work Sans"/>
                  <a:cs typeface="Work Sans"/>
                  <a:sym typeface="Work Sans"/>
                </a:rPr>
                <a:t>The user flow illustrates the seamless steps from login to risk prediction, ensuring an intuitive experience that empowers users to make informed health decisions efficiently.</a:t>
              </a:r>
            </a:p>
          </p:txBody>
        </p:sp>
        <p:sp>
          <p:nvSpPr>
            <p:cNvPr id="11" name="TextBox 11"/>
            <p:cNvSpPr txBox="1"/>
            <p:nvPr/>
          </p:nvSpPr>
          <p:spPr>
            <a:xfrm>
              <a:off x="0" y="133350"/>
              <a:ext cx="7264400" cy="36470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User Interaction Flow</a:t>
              </a:r>
            </a:p>
          </p:txBody>
        </p:sp>
        <p:sp>
          <p:nvSpPr>
            <p:cNvPr id="12" name="TextBox 12"/>
            <p:cNvSpPr txBox="1"/>
            <p:nvPr/>
          </p:nvSpPr>
          <p:spPr>
            <a:xfrm>
              <a:off x="0" y="4100127"/>
              <a:ext cx="7264400" cy="1238250"/>
            </a:xfrm>
            <a:prstGeom prst="rect">
              <a:avLst/>
            </a:prstGeom>
          </p:spPr>
          <p:txBody>
            <a:bodyPr lIns="0" tIns="0" rIns="0" bIns="0" rtlCol="0" anchor="t">
              <a:spAutoFit/>
            </a:bodyPr>
            <a:lstStyle/>
            <a:p>
              <a:pPr marL="0" lvl="0" indent="0" algn="l">
                <a:lnSpc>
                  <a:spcPts val="3600"/>
                </a:lnSpc>
                <a:spcBef>
                  <a:spcPct val="0"/>
                </a:spcBef>
              </a:pPr>
              <a:r>
                <a:rPr lang="en-US" sz="3000" u="none" strike="noStrike" spc="-165">
                  <a:solidFill>
                    <a:srgbClr val="C1DBEE"/>
                  </a:solidFill>
                  <a:latin typeface="Work Sans"/>
                  <a:ea typeface="Work Sans"/>
                  <a:cs typeface="Work Sans"/>
                  <a:sym typeface="Work Sans"/>
                </a:rPr>
                <a:t>Stepwise guide to using CardioShield</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22676A"/>
            </a:solidFill>
            <a:ln cap="rnd">
              <a:noFill/>
              <a:prstDash val="solid"/>
              <a:round/>
            </a:ln>
          </p:spPr>
        </p:sp>
      </p:grpSp>
      <p:grpSp>
        <p:nvGrpSpPr>
          <p:cNvPr id="4" name="Group 4"/>
          <p:cNvGrpSpPr/>
          <p:nvPr/>
        </p:nvGrpSpPr>
        <p:grpSpPr>
          <a:xfrm>
            <a:off x="2105025" y="1562100"/>
            <a:ext cx="6886575" cy="3713217"/>
            <a:chOff x="0" y="0"/>
            <a:chExt cx="9182100" cy="4950956"/>
          </a:xfrm>
        </p:grpSpPr>
        <p:sp>
          <p:nvSpPr>
            <p:cNvPr id="5" name="TextBox 5"/>
            <p:cNvSpPr txBox="1"/>
            <p:nvPr/>
          </p:nvSpPr>
          <p:spPr>
            <a:xfrm>
              <a:off x="0" y="1588631"/>
              <a:ext cx="7264400" cy="3362325"/>
            </a:xfrm>
            <a:prstGeom prst="rect">
              <a:avLst/>
            </a:prstGeom>
          </p:spPr>
          <p:txBody>
            <a:bodyPr lIns="0" tIns="0" rIns="0" bIns="0" rtlCol="0" anchor="t">
              <a:spAutoFit/>
            </a:bodyPr>
            <a:lstStyle/>
            <a:p>
              <a:pPr marL="0" lvl="0" indent="0" algn="l">
                <a:lnSpc>
                  <a:spcPts val="2520"/>
                </a:lnSpc>
              </a:pPr>
              <a:r>
                <a:rPr lang="en-US" sz="2100" spc="-115">
                  <a:solidFill>
                    <a:srgbClr val="D1E8FF"/>
                  </a:solidFill>
                  <a:latin typeface="Work Sans"/>
                  <a:ea typeface="Work Sans"/>
                  <a:cs typeface="Work Sans"/>
                  <a:sym typeface="Work Sans"/>
                </a:rPr>
                <a:t>CardioShield AI offers a </a:t>
              </a:r>
              <a:r>
                <a:rPr lang="en-US" sz="2100" b="1" spc="-115">
                  <a:solidFill>
                    <a:srgbClr val="D1E8FF"/>
                  </a:solidFill>
                  <a:latin typeface="Work Sans Bold"/>
                  <a:ea typeface="Work Sans Bold"/>
                  <a:cs typeface="Work Sans Bold"/>
                  <a:sym typeface="Work Sans Bold"/>
                </a:rPr>
                <a:t>transformative approach</a:t>
              </a:r>
              <a:r>
                <a:rPr lang="en-US" sz="2100" spc="-115">
                  <a:solidFill>
                    <a:srgbClr val="D1E8FF"/>
                  </a:solidFill>
                  <a:latin typeface="Work Sans"/>
                  <a:ea typeface="Work Sans"/>
                  <a:cs typeface="Work Sans"/>
                  <a:sym typeface="Work Sans"/>
                </a:rPr>
                <a:t> to cardiovascular health by ensuring low-cost screening, particularly in underserved areas. Its early detection capability significantly reduces missed high-risk patients, supports clinical triage, and ultimately enhances patient outcomes and health equity on a global scale.</a:t>
              </a:r>
            </a:p>
          </p:txBody>
        </p:sp>
        <p:sp>
          <p:nvSpPr>
            <p:cNvPr id="6" name="TextBox 6"/>
            <p:cNvSpPr txBox="1"/>
            <p:nvPr/>
          </p:nvSpPr>
          <p:spPr>
            <a:xfrm>
              <a:off x="0" y="133350"/>
              <a:ext cx="91821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Impact</a:t>
              </a:r>
            </a:p>
          </p:txBody>
        </p:sp>
      </p:grpSp>
      <p:grpSp>
        <p:nvGrpSpPr>
          <p:cNvPr id="7" name="Group 7"/>
          <p:cNvGrpSpPr/>
          <p:nvPr/>
        </p:nvGrpSpPr>
        <p:grpSpPr>
          <a:xfrm>
            <a:off x="10312605" y="981075"/>
            <a:ext cx="6946695" cy="7471274"/>
            <a:chOff x="0" y="0"/>
            <a:chExt cx="3482081" cy="3745030"/>
          </a:xfrm>
        </p:grpSpPr>
        <p:sp>
          <p:nvSpPr>
            <p:cNvPr id="8" name="Freeform 8"/>
            <p:cNvSpPr/>
            <p:nvPr/>
          </p:nvSpPr>
          <p:spPr>
            <a:xfrm>
              <a:off x="54483" y="50038"/>
              <a:ext cx="3372988" cy="3645589"/>
            </a:xfrm>
            <a:custGeom>
              <a:avLst/>
              <a:gdLst/>
              <a:ahLst/>
              <a:cxnLst/>
              <a:rect l="l" t="t" r="r" b="b"/>
              <a:pathLst>
                <a:path w="3372988" h="3645589">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528" r="-528"/>
              </a:stretch>
            </a:blipFill>
          </p:spPr>
        </p:sp>
        <p:sp>
          <p:nvSpPr>
            <p:cNvPr id="9" name="Freeform 9"/>
            <p:cNvSpPr/>
            <p:nvPr/>
          </p:nvSpPr>
          <p:spPr>
            <a:xfrm>
              <a:off x="0" y="0"/>
              <a:ext cx="3481954" cy="3744903"/>
            </a:xfrm>
            <a:custGeom>
              <a:avLst/>
              <a:gdLst/>
              <a:ahLst/>
              <a:cxnLst/>
              <a:rect l="l" t="t" r="r" b="b"/>
              <a:pathLst>
                <a:path w="3481954" h="3744903">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C1DBEE"/>
            </a:solid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22676A"/>
            </a:solidFill>
            <a:ln cap="rnd">
              <a:noFill/>
              <a:prstDash val="solid"/>
              <a:round/>
            </a:ln>
          </p:spPr>
        </p:sp>
      </p:grpSp>
      <p:grpSp>
        <p:nvGrpSpPr>
          <p:cNvPr id="4" name="Group 4"/>
          <p:cNvGrpSpPr/>
          <p:nvPr/>
        </p:nvGrpSpPr>
        <p:grpSpPr>
          <a:xfrm>
            <a:off x="2105025" y="1562100"/>
            <a:ext cx="6886575" cy="3713217"/>
            <a:chOff x="0" y="0"/>
            <a:chExt cx="9182100" cy="4950956"/>
          </a:xfrm>
        </p:grpSpPr>
        <p:sp>
          <p:nvSpPr>
            <p:cNvPr id="5" name="TextBox 5"/>
            <p:cNvSpPr txBox="1"/>
            <p:nvPr/>
          </p:nvSpPr>
          <p:spPr>
            <a:xfrm>
              <a:off x="0" y="1588631"/>
              <a:ext cx="7264400" cy="3362325"/>
            </a:xfrm>
            <a:prstGeom prst="rect">
              <a:avLst/>
            </a:prstGeom>
          </p:spPr>
          <p:txBody>
            <a:bodyPr lIns="0" tIns="0" rIns="0" bIns="0" rtlCol="0" anchor="t">
              <a:spAutoFit/>
            </a:bodyPr>
            <a:lstStyle/>
            <a:p>
              <a:pPr marL="0" lvl="0" indent="0" algn="l">
                <a:lnSpc>
                  <a:spcPts val="2520"/>
                </a:lnSpc>
              </a:pPr>
              <a:r>
                <a:rPr lang="en-US" sz="2100" spc="-115">
                  <a:solidFill>
                    <a:srgbClr val="D1E8FF"/>
                  </a:solidFill>
                  <a:latin typeface="Work Sans"/>
                  <a:ea typeface="Work Sans"/>
                  <a:cs typeface="Work Sans"/>
                  <a:sym typeface="Work Sans"/>
                </a:rPr>
                <a:t>CardioShield AI aims to enhance its capabilities through </a:t>
              </a:r>
              <a:r>
                <a:rPr lang="en-US" sz="2100" b="1" spc="-115">
                  <a:solidFill>
                    <a:srgbClr val="D1E8FF"/>
                  </a:solidFill>
                  <a:latin typeface="Work Sans Bold"/>
                  <a:ea typeface="Work Sans Bold"/>
                  <a:cs typeface="Work Sans Bold"/>
                  <a:sym typeface="Work Sans Bold"/>
                </a:rPr>
                <a:t>regional calibration</a:t>
              </a:r>
              <a:r>
                <a:rPr lang="en-US" sz="2100" spc="-115">
                  <a:solidFill>
                    <a:srgbClr val="D1E8FF"/>
                  </a:solidFill>
                  <a:latin typeface="Work Sans"/>
                  <a:ea typeface="Work Sans"/>
                  <a:cs typeface="Work Sans"/>
                  <a:sym typeface="Work Sans"/>
                </a:rPr>
                <a:t> focused on South Asia, integration with wearable technology for real-time monitoring, and </a:t>
              </a:r>
              <a:r>
                <a:rPr lang="en-US" sz="2100" b="1" spc="-115">
                  <a:solidFill>
                    <a:srgbClr val="D1E8FF"/>
                  </a:solidFill>
                  <a:latin typeface="Work Sans Bold"/>
                  <a:ea typeface="Work Sans Bold"/>
                  <a:cs typeface="Work Sans Bold"/>
                  <a:sym typeface="Work Sans Bold"/>
                </a:rPr>
                <a:t>clinical validation</a:t>
              </a:r>
              <a:r>
                <a:rPr lang="en-US" sz="2100" spc="-115">
                  <a:solidFill>
                    <a:srgbClr val="D1E8FF"/>
                  </a:solidFill>
                  <a:latin typeface="Work Sans"/>
                  <a:ea typeface="Work Sans"/>
                  <a:cs typeface="Work Sans"/>
                  <a:sym typeface="Work Sans"/>
                </a:rPr>
                <a:t> to ensure effectiveness. Additionally, the platform will seek partnerships with government health centers for broader deployment.</a:t>
              </a:r>
            </a:p>
          </p:txBody>
        </p:sp>
        <p:sp>
          <p:nvSpPr>
            <p:cNvPr id="6" name="TextBox 6"/>
            <p:cNvSpPr txBox="1"/>
            <p:nvPr/>
          </p:nvSpPr>
          <p:spPr>
            <a:xfrm>
              <a:off x="0" y="133350"/>
              <a:ext cx="91821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D1E8FF"/>
                  </a:solidFill>
                  <a:latin typeface="Work Sans Semi-Bold"/>
                  <a:ea typeface="Work Sans Semi-Bold"/>
                  <a:cs typeface="Work Sans Semi-Bold"/>
                  <a:sym typeface="Work Sans Semi-Bold"/>
                </a:rPr>
                <a:t>Future Scope</a:t>
              </a:r>
            </a:p>
          </p:txBody>
        </p:sp>
      </p:grpSp>
      <p:grpSp>
        <p:nvGrpSpPr>
          <p:cNvPr id="7" name="Group 7"/>
          <p:cNvGrpSpPr/>
          <p:nvPr/>
        </p:nvGrpSpPr>
        <p:grpSpPr>
          <a:xfrm>
            <a:off x="10312605" y="981075"/>
            <a:ext cx="6946695" cy="7471274"/>
            <a:chOff x="0" y="0"/>
            <a:chExt cx="3482081" cy="3745030"/>
          </a:xfrm>
        </p:grpSpPr>
        <p:sp>
          <p:nvSpPr>
            <p:cNvPr id="8" name="Freeform 8"/>
            <p:cNvSpPr/>
            <p:nvPr/>
          </p:nvSpPr>
          <p:spPr>
            <a:xfrm>
              <a:off x="54483" y="50038"/>
              <a:ext cx="3372988" cy="3645589"/>
            </a:xfrm>
            <a:custGeom>
              <a:avLst/>
              <a:gdLst/>
              <a:ahLst/>
              <a:cxnLst/>
              <a:rect l="l" t="t" r="r" b="b"/>
              <a:pathLst>
                <a:path w="3372988" h="3645589">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528" r="-528"/>
              </a:stretch>
            </a:blipFill>
          </p:spPr>
        </p:sp>
        <p:sp>
          <p:nvSpPr>
            <p:cNvPr id="9" name="Freeform 9"/>
            <p:cNvSpPr/>
            <p:nvPr/>
          </p:nvSpPr>
          <p:spPr>
            <a:xfrm>
              <a:off x="0" y="0"/>
              <a:ext cx="3481954" cy="3744903"/>
            </a:xfrm>
            <a:custGeom>
              <a:avLst/>
              <a:gdLst/>
              <a:ahLst/>
              <a:cxnLst/>
              <a:rect l="l" t="t" r="r" b="b"/>
              <a:pathLst>
                <a:path w="3481954" h="3744903">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C1DBEE"/>
            </a:solid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3299803" cy="1742593"/>
          </a:xfrm>
        </p:grpSpPr>
        <p:sp>
          <p:nvSpPr>
            <p:cNvPr id="3" name="Freeform 3"/>
            <p:cNvSpPr/>
            <p:nvPr/>
          </p:nvSpPr>
          <p:spPr>
            <a:xfrm>
              <a:off x="0" y="0"/>
              <a:ext cx="3299803" cy="1742587"/>
            </a:xfrm>
            <a:custGeom>
              <a:avLst/>
              <a:gdLst/>
              <a:ahLst/>
              <a:cxnLst/>
              <a:rect l="l" t="t" r="r" b="b"/>
              <a:pathLst>
                <a:path w="3299803" h="1742587">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close/>
                </a:path>
              </a:pathLst>
            </a:custGeom>
            <a:solidFill>
              <a:srgbClr val="22676A"/>
            </a:solidFill>
          </p:spPr>
        </p:sp>
      </p:grpSp>
      <p:sp>
        <p:nvSpPr>
          <p:cNvPr id="4" name="TextBox 4"/>
          <p:cNvSpPr txBox="1"/>
          <p:nvPr/>
        </p:nvSpPr>
        <p:spPr>
          <a:xfrm>
            <a:off x="6126707" y="3738658"/>
            <a:ext cx="10705077" cy="1215335"/>
          </a:xfrm>
          <a:prstGeom prst="rect">
            <a:avLst/>
          </a:prstGeom>
        </p:spPr>
        <p:txBody>
          <a:bodyPr lIns="0" tIns="0" rIns="0" bIns="0" rtlCol="0" anchor="t">
            <a:spAutoFit/>
          </a:bodyPr>
          <a:lstStyle/>
          <a:p>
            <a:pPr marL="0" lvl="0" indent="0" algn="l">
              <a:lnSpc>
                <a:spcPts val="9001"/>
              </a:lnSpc>
            </a:pPr>
            <a:r>
              <a:rPr lang="en-US" sz="9001" b="1" spc="-495">
                <a:solidFill>
                  <a:srgbClr val="D1E8FF"/>
                </a:solidFill>
                <a:latin typeface="Work Sans Semi-Bold"/>
                <a:ea typeface="Work Sans Semi-Bold"/>
                <a:cs typeface="Work Sans Semi-Bold"/>
                <a:sym typeface="Work Sans Semi-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520</Words>
  <Application>Microsoft Office PowerPoint</Application>
  <PresentationFormat>Custom</PresentationFormat>
  <Paragraphs>34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Work Sans Semi-Bold</vt:lpstr>
      <vt:lpstr>Work Sans</vt:lpstr>
      <vt:lpstr>Work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CardioShield AI</dc:title>
  <dc:description>Presentation - CardioShield AI</dc:description>
  <cp:lastModifiedBy>anjali malviya</cp:lastModifiedBy>
  <cp:revision>3</cp:revision>
  <dcterms:created xsi:type="dcterms:W3CDTF">2006-08-16T00:00:00Z</dcterms:created>
  <dcterms:modified xsi:type="dcterms:W3CDTF">2026-02-26T09:41:40Z</dcterms:modified>
  <dc:identifier>DAHCaZ9BY5w</dc:identifier>
</cp:coreProperties>
</file>